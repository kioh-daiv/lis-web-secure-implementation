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セキュア実装ガイド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560320" y="2212848"/>
            <a:ext cx="402336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社内勉強会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88720" y="278892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7889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OWASP ASVS 5.0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278892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7889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 / Angular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788920"/>
            <a:ext cx="2194560" cy="329184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7889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3省2GL 対応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B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法規制・安全要件を満たすアプリ実装のフレームワーク　／　2026年5月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 セキュア実装ガイド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987552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09728"/>
            <a:ext cx="8503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603504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本日のカバー範囲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115568"/>
            <a:ext cx="8595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15568"/>
            <a:ext cx="548640" cy="53035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115568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E4D92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11556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117043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安心ラインの考え方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138988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L2 が安心ライン ／ フレームワークで網羅・証跡化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719072"/>
            <a:ext cx="8595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719072"/>
            <a:ext cx="548640" cy="5303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1719072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71907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177393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認証・セッション・認可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0120" y="1993392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MFA ／ パスワード保管 ／ セッション管理 ／ RBAC ／ IDOR 対策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322576"/>
            <a:ext cx="8595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322576"/>
            <a:ext cx="548640" cy="5303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" y="2322576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232257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" y="237744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入力・出力・Web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60120" y="2596896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 ／ XSS ／ CSRF ／ SSRF ／ ファイルアップロード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2926080"/>
            <a:ext cx="8595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926080"/>
            <a:ext cx="548640" cy="5303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9" name="Shape 27"/>
          <p:cNvSpPr/>
          <p:nvPr/>
        </p:nvSpPr>
        <p:spPr>
          <a:xfrm>
            <a:off x="274320" y="2926080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7C3AED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292608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29809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暗号・データ保護・通信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60120" y="3200400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フィールド暗号化 ／ マスキング ／ 鍵管理 ／ TLS 強制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529584"/>
            <a:ext cx="8595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529584"/>
            <a:ext cx="548640" cy="53035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" y="3529584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3529584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60120" y="3584448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ログ・API・設定・依存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960120" y="3803904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 ／ API 認証 ／ SCA（依存脆弱性） ／ BCP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74320" y="4133088"/>
            <a:ext cx="859536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4320" y="4133088"/>
            <a:ext cx="548640" cy="530352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4133088"/>
            <a:ext cx="548640" cy="530352"/>
          </a:xfrm>
          <a:prstGeom prst="roundRect">
            <a:avLst>
              <a:gd name="adj" fmla="val 10345"/>
            </a:avLst>
          </a:prstGeom>
          <a:solidFill>
            <a:srgbClr val="0369A1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13308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60120" y="418795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検査業務特有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960120" y="4407408"/>
            <a:ext cx="7772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精度管理 ／ トレーサビリティ ／ 結果確定・訂正履歴 ／ 届出連携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 セキュア実装ガイド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2つの問いに答える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6766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何を実装するか ／ どこまでやれば安心か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251960" cy="1600200"/>
          </a:xfrm>
          <a:prstGeom prst="roundRect">
            <a:avLst>
              <a:gd name="adj" fmla="val 457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170432"/>
            <a:ext cx="4251960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170432"/>
            <a:ext cx="4251960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117043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何を実装するか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1481328"/>
            <a:ext cx="397764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機能ロジックの「上」に、認証・認可・監査ログ・データ保護・Web セキュリティを Web 基盤として組み込む。AWS インフラが用意した暗号化基盤・WAF・監査基盤を、アプリが正しく使う実装が要る。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09160" y="1170432"/>
            <a:ext cx="4251960" cy="1600200"/>
          </a:xfrm>
          <a:prstGeom prst="roundRect">
            <a:avLst>
              <a:gd name="adj" fmla="val 4571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170432"/>
            <a:ext cx="425196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Shape 14"/>
          <p:cNvSpPr/>
          <p:nvPr/>
        </p:nvSpPr>
        <p:spPr>
          <a:xfrm>
            <a:off x="4709160" y="1170432"/>
            <a:ext cx="4251960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117043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どこまでやれば安心か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1481328"/>
            <a:ext cx="3977640" cy="1243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「安心」は主観なので検証可能な基準に置き換える。OWASP ASVS の L2（L1+L2）を満たせば、客観的に「ここまでやった」と言える。これを安心ラインとする。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8595360" cy="1024128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74320" y="2880360"/>
            <a:ext cx="54864" cy="10241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90779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の「上」にアプリ実装がある：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12724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 があっても、アプリが要配慮フィールドを暗号化しなければ守られない。WAF があっても、アプリの SQLi 対策がなければ抜かれる。CloudTrail は AWS 操作の証跡。「誰がどの患者の検査結果を見たか」はアプリが出す監査ログ。インフラは土台、本ガイドはその上のアプリ実装を扱う。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74320" y="4059936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凡例：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14400" y="4059936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405993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371600" y="405993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基礎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926080" y="4059936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0" y="405993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383280" y="405993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標準（安心ライン）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37760" y="4059936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4059936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394960" y="405993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高保証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949440" y="4059936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4059936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検査特有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845552" y="4059936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医療ドメイン上乗せ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 セキュア実装ガイド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ASVSレベルと安心ライン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6766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「どこまで」をフレームワークで答える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17043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 基礎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2336" y="1463040"/>
            <a:ext cx="248716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第一層防御。最も重要なリスクに対処する明確で少数の要件。最低ラインとして必ず満たす。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72968" y="11704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00984" y="117043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 標準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64408" y="1444752"/>
            <a:ext cx="1280160" cy="201168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3264408" y="14447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安心ライン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300984" y="166420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ほとんどのアプリが目指すべき水準。L1+L2 で全要件の約 70%。要配慮情報を扱う部門システムの安心ライン。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071616" y="1170432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1170432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L3 高保証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99632" y="1463040"/>
            <a:ext cx="248716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残り約 30%。多層防御・高難度の統制。大病院・公的調達・人命直結系。リスク評価に基づき選択的に適用。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267712"/>
            <a:ext cx="8595360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74320" y="2267712"/>
            <a:ext cx="54864" cy="69494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28600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安心の定義：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の L1+L2 を全項目満たし、加えて 3省2GL のアプリ要件と検査業務特有を実装した状態 ＝ 客観的に「ここまでやった」と説明できる。「どこまで？」と問われたら「ASVS L2 を全部潰した、証跡はこれ」と即答できる。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3054096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過剰と不足の線引き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310128"/>
            <a:ext cx="8595360" cy="25603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3101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姿勢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926080" y="3310128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" y="3648456"/>
            <a:ext cx="109728" cy="182880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" y="3566160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機能が動いたら完了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26080" y="3566160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不足。認証・監査・データ保護の実装が抜け、法規制違反・漏えいリスクが残る。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74320" y="3913632"/>
            <a:ext cx="8595360" cy="34747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47472" y="3995928"/>
            <a:ext cx="109728" cy="182880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" y="3913632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全項目を L3 まで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926080" y="3913632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過剰。コストと工数が膨らみ、現場の開発が回らない。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261104"/>
            <a:ext cx="8595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4343400"/>
            <a:ext cx="109728" cy="182880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" y="4261104"/>
            <a:ext cx="23408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コアは L2（一部 L3）、周辺は L1〜L2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926080" y="4261104"/>
            <a:ext cx="5760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現実解。患者データを扱う中核機能に L2 を確実に、リスクの高い箇所だけ L3 を足す。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 セキュア実装ガイド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実装カテゴリ一覧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6766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このガイドの構成 ／ 5カテゴリ × 法規制・ASVS章の対応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27432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1704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カテゴリ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77440" y="117043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主な実装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760720" y="11704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紐づく法規制・ASVS章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44475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444752"/>
            <a:ext cx="54864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" y="1444752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認証・セッション・認可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77440" y="1481328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二要素認証、セッションタイムアウト、RBAC、データ単位認可（IDOR対策）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760720" y="1481328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3省2GL 運用編14章 ／ ASVS V6, V7, V8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2103120"/>
            <a:ext cx="859536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103120"/>
            <a:ext cx="54864" cy="65836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420624" y="2103120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入力・出力・Web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77440" y="2139696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入力検証、SQLi ／ XSS ／ CSRF 対策、SSRF・ファイルアップロード制御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760720" y="2139696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安全管理措置 ／ ASVS V1, V2, V3, V4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276148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61488"/>
            <a:ext cx="54864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" y="2761488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暗号・データ保護・通信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377440" y="2798064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要配慮フィールド暗号化、マスキング、鍵管理、TLS 強制・HSTS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60720" y="2798064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個情法23条 ／ ASVS V11, V12, V14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74320" y="3419856"/>
            <a:ext cx="859536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19856"/>
            <a:ext cx="54864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" y="3419856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ログ・API・設定・依存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377440" y="3456432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監査ログ（WORM保管）、API 認証・レート制限、依存脆弱性管理（SCA）、秘密情報管理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760720" y="3456432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3省2GL ／ 事業者向けGL ／ ASVS V13, V15, V16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407822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078224"/>
            <a:ext cx="54864" cy="658368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" y="4078224"/>
            <a:ext cx="188366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検査業務特有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77440" y="4114800"/>
            <a:ext cx="3291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精度管理記録・改ざん防止、トレーサビリティ、結果確定・訂正履歴、届出連携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60720" y="411480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検体検査精度確保 ／ 感染症法 ／ 電子保存三原則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2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Web基盤 セキュア実装ガイド — 社内勉強会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認証・セッション・認可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MFA ／ パスワード保管 ／ セッション管理 ／ RBAC ／ IDOR 対策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72491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二要素認証（MFA）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272491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パスワード安全保管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313639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ブルートフォース対策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313639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セッションタイムアウト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354787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547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Cookie 属性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354787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547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RBAC・IDOR 対策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 セキュア実装ガイド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認証（ASVS V6）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6766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MFA ／ パスワード保管 ／ ブルートフォース対策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" y="1243584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2435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9536" y="12527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V6 ／ 3省2GL 運用編14章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" y="1444752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二要素認証（MFA）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1682496"/>
            <a:ext cx="8339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3省2GL 運用編14章 遵守事項⑤（努力規定）。2027年4月〜稼働の新規・更新システムは原則 MFA 採用が望ましい。要配慮情報を扱うため L2 として実装する。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" y="1865376"/>
            <a:ext cx="8339328" cy="237744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865376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WebAuthn（navigator.credentials.create/get）または TOTP / ICカード+生体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8595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2336" y="2313432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31343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59536" y="232257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V6 ／ 3省2GL 運用編14章⑥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2336" y="2514600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パスワードの安全保管とポリシー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2336" y="2752344"/>
            <a:ext cx="8339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平文・可逆保管は漏えい時に致命的。ソルト付きハッシュ保管（BCrypt / Argon2）、長さ重視ポリシー、漏えいパスワードの拒否。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" y="2935224"/>
            <a:ext cx="8339328" cy="237744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935224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BCryptPasswordEncoder(12) または Argon2PasswordEncoder  →  運用担当者もパスワードを復元できない設計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310128"/>
            <a:ext cx="8595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2336" y="338328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3832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59536" y="33924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02336" y="3584448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アカウントロックアウト（ブルートフォース対策）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02336" y="3822192"/>
            <a:ext cx="8339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総当たり攻撃を防ぐ。一定回数の失敗でロック、または指数的バックオフ。アカウント列挙を防ぐためエラーメッセージは一律にする。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2336" y="4005072"/>
            <a:ext cx="8339328" cy="237744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005072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AuthenticationFailureHandler で失敗回数記録 → 閾値でロック。エラーは「ID/PWが正しくありません」に統一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 セキュア実装ガイド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セッション管理・認可（ASVS V7, V8）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6766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タイムアウト ／ Cookie 属性 ／ RBAC ／ IDOR 対策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243584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435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32104" y="1252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V7 ／ 3省2GL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4048" y="1444752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セッションタイムアウト（共有端末）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1682496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検査室・ナースステーションの共有端末では、放置セッションからの不正閲覧を防ぐ。アイドルと絶対の両方のタイムアウト。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session.timeout=15m。Angular: 操作監視 → 一定時間で自動ログアウト + 警告ダイアログ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170432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1243584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2435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21224" y="1252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V7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73168" y="1444752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 ID 再生成・Cookie 属性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1682496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ログイン時のセッション ID 再生成（固定化攻撃対策）、ログアウトで確実に無効化。Cookie は盗難・改ざんを防ぐ属性を付与。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sessionFixation().newSession()。Cookie: HttpOnly / Secure / SameSite=Strict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265176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65176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2104" y="26609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V8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048" y="2852928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サーバ側での認可チェック（全リクエスト）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3090672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画面の出し分けだけでは不十分。すべての API でサーバ側が権限を検証する。クライアントの制御は迂回されうる。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@PreAuthorize("hasRole('TECHNOLOGIST')") ／ @EnableMethodSecurity を有効化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2578608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265176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65176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21224" y="26609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V8 ／ 3省2GL 運用編14章⑧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73168" y="2852928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RBAC（職種別）と IDOR 対策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3090672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医師・臨床検査技師・事務で権限を分ける。URL の ID 書き換えで他患者のデータを取得できてはならない。リソース所有権をサーバ側で必ず検証。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findByIdAndDepartment(id, dept).orElseThrow(AccessDeniedException::new)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45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6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Web基盤 セキュア実装ガイド — 社内勉強会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入力・出力・Web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 ／ XSS ／ CSRF ／ SSRF ／ ファイルアップロード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72491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4295A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入力検証・SQLインジェクション対策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272491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4295A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XSS（クロスサイトスクリプティング）対策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313639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4295A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CSRF 対策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313639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14295A"/>
          </a:solidFill>
          <a:ln w="12700">
            <a:solidFill>
              <a:srgbClr val="2A4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SSRF・ファイルアップロード・業務ロジック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 セキュア実装ガイド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入力・出力・Web セキュリティ（ASVS V1〜V5）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6766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SQLi ／ XSS ／ CSRF ／ SSRF ／ ファイルアップロード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243584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435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32104" y="1252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V1, V2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4048" y="1444752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入力検証・SQLインジェクション対策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1682496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クライアント検証は迂回される。サーバで型・範囲・必須を検証。SQL は文字列連結せずプレースホルダを使う。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@Valid @RequestBody + Bean Validation。JPA @Query はパラメータバインド —— 文字列連結禁止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170432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1243584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2435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21224" y="1252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V3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73168" y="1444752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XSS（クロスサイトスクリプティング）対策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1682496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検査コメント等にスクリプトを埋め込まれ、他利用者のブラウザで実行されるのを防ぐ。出力時のエスケープが基本。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Angular: {{ }} 補間・プロパティバインドで自動エスケープ。bypassSecurityTrustHtml() の安易な使用禁止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265176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65176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2104" y="26609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V3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048" y="2852928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CSRF 対策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3090672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利用者の意図しないリクエスト（結果確定・削除など）を第三者サイトから送られるのを防ぐ。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CSRF 保護がデフォルト有効。SPA は CookieCsrfTokenRepository でトークン配布。Angular は X-XSRF-TOKEN ヘッダを自動送信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2578608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265176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65176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21224" y="26609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V4, V5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73168" y="2852928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SSRF・ファイルアップロード・業務ロジック検証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3090672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外部連携 URL 悪用（SSRF）、アップロードファイルのウイルス・型偽装、業務ルール逸脱（マイナス値・不正な状態遷移）を防ぐ。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外部リクエスト先を許可リストで限定。アップロードは MIME・拡張子・サイズ検証 + ウイルススキャン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6A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Web基盤 セキュア実装ガイド — 社内勉強会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暗号・データ保護・通信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4B5F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フィールド暗号化 ／ マスキング ／ 鍵管理 ／ TLS 強制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72491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3D2080"/>
          </a:solidFill>
          <a:ln w="12700">
            <a:solidFill>
              <a:srgbClr val="5B34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要配慮フィールドの暗号化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272491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3D2080"/>
          </a:solidFill>
          <a:ln w="12700">
            <a:solidFill>
              <a:srgbClr val="5B34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画面マスキング・ログPII漏えい防止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313639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3D2080"/>
          </a:solidFill>
          <a:ln w="12700">
            <a:solidFill>
              <a:srgbClr val="5B34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鍵管理とアルゴリズム選定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313639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3D2080"/>
          </a:solidFill>
          <a:ln w="12700">
            <a:solidFill>
              <a:srgbClr val="5B34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TLS 強制・HSTS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 セキュア実装ガイド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暗号・データ保護・通信（ASVS V11, V12, V14）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6766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フィールド暗号化 ／ マスキング ／ 鍵管理 ／ TLS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243584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435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32104" y="1252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V14 ／ 個情法23条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4048" y="1444752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要配慮フィールドの暗号化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1682496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 全体暗号化（AWS 保存時暗号化）に加え、特に機微なフィールドはアプリ側で暗号化。検査結果・病理診断・感染症情報は要配慮個人情報。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JPA AttributeConverter で AES-GCM 暗号化。鍵は KMS / Secrets Manager —— コードにハードコードしない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170432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1243584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2435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221224" y="1252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V14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73168" y="1444752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画面マスキング・ログへの PII 出力防止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1682496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権限や場面に応じて要配慮情報を伏せる。ログ・エラー・URL クエリに患者情報を出さない（ログ自体が漏えい経路になる）。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logback フィルタで PII マスク。患者 ID は URL クエリでなくパスまたはボディ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265176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65176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2104" y="26609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V11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048" y="2852928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鍵管理とアルゴリズム選定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3090672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弱いアルゴリズム・固定鍵・コード内の鍵を避ける。鍵のローテーション、廃棄時の暗号学的消去（鍵削除）。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AES-256-GCM 等の標準アルゴリズム。鍵は AWS KMS / CloudHSM。自前で暗号方式を発明しない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2578608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265176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65176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221224" y="26609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V12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73168" y="2852928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TLS 強制・HSTS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3090672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全通信を TLS 1.2 以上で暗号化。HTTP は HTTPS へリダイレクト、HSTS で常時 HTTPS を強制。内部通信（マイクロサービス間）も TLS。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requiresChannel().anyRequest().requiresSecure()。HSTS: maxAgeInSeconds=31536000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51A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6A3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Web基盤 セキュア実装ガイド — 社内勉強会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ログ・API・設定・依存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CD3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 ／ API 認証 ／ セキュリティヘッダー ／ SCA ／ BCP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72491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5C2500"/>
          </a:solidFill>
          <a:ln w="12700">
            <a:solidFill>
              <a:srgbClr val="8A4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監査ログ（WORM保管）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272491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5C2500"/>
          </a:solidFill>
          <a:ln w="12700">
            <a:solidFill>
              <a:srgbClr val="8A4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724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エラー処理（内部情報漏えい防止）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97280" y="313639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5C2500"/>
          </a:solidFill>
          <a:ln w="12700">
            <a:solidFill>
              <a:srgbClr val="8A4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認証・レート制限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313639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5C2500"/>
          </a:solidFill>
          <a:ln w="12700">
            <a:solidFill>
              <a:srgbClr val="8A4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66360" y="31363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依存脆弱性管理（SCA）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7280" y="354787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5C2500"/>
          </a:solidFill>
          <a:ln w="12700">
            <a:solidFill>
              <a:srgbClr val="8A4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547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セキュリティヘッダー・秘密情報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3547872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5C2500"/>
          </a:solidFill>
          <a:ln w="12700">
            <a:solidFill>
              <a:srgbClr val="8A4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35478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障害対応・冪等性・BCP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 セキュア実装ガイド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監査ログ・API・エラー処理（ASVS V4, V16）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6766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誰が・いつ・何を ／ API 認証・レート制限 ／ エラー管理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" y="1243584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2435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9536" y="12527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V16 ／ 3省2GL アクセス証跡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" y="1444752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監査ログ（誰が・いつ・どの患者の・何を）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1682496"/>
            <a:ext cx="8339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3省2GL のアクセス証跡要件。漏えい時の事実調査・保守作業ログにも使う。患者単位のアクセスを時系列で追える形で残す。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" y="1865376"/>
            <a:ext cx="8339328" cy="237744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865376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AOP @Around または HandlerInterceptor。JSON構造化ログ + MDC（actor / action / patientRef / timestamp）。S3 Object Lock WORM 保管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8595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2336" y="2313432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31343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59536" y="232257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V16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2336" y="2514600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エラーで内部情報を漏らさない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2336" y="2752344"/>
            <a:ext cx="8339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スタックトレース・SQL・内部パスを画面に出すと攻撃の手がかりになる。本番では汎用エラー、詳細はサーバログのみ。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" y="2935224"/>
            <a:ext cx="8339328" cy="237744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935224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@ControllerAdvice + @ExceptionHandler で一律の汎用エラー応答。server.error.include-stacktrace=never（本番）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310128"/>
            <a:ext cx="8595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2336" y="338328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3832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59536" y="33924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V4 ／ 標準規格対応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02336" y="3584448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認証・レート制限・過剰データ露出の防止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02336" y="3822192"/>
            <a:ext cx="8339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電子カルテ・他部門との連携 API は、トークン認証で利用範囲を限定し、レート制限で乱用を防ぐ。レスポンスに不要フィールドを含めない。FHIR 等の標準形式で入出力する。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2336" y="4005072"/>
            <a:ext cx="8339328" cy="237744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005072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OAuth2 Resource Server（JWT 検証）。レート制限: Resilience4j / API Gateway。レスポンスは DTO で必要項目だけ返す（エンティティ直返し禁止）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 セキュア実装ガイド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依存管理・設定・BCP（ASVS V13, V15 ／ 経営管理編）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6766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SCA ／ セキュリティヘッダー ／ 可用性・冪等性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8595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2336" y="1243584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243584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59536" y="12527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V15 ／ 事業者向けGL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02336" y="1444752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依存ライブラリの脆弱性管理（SCA）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1682496"/>
            <a:ext cx="8339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事業者向けGL の管理策。既知脆弱性のあるライブラリの混入を継続的に検知し、パッチを適用する。SBOM の整備。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02336" y="1865376"/>
            <a:ext cx="8339328" cy="237744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1865376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OWASP Dependency-Check（Maven/Gradle plugin）/ Snyk を CI に組込み。AWS Inspector で SBOM（CycloneDX/SPDX）出力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240280"/>
            <a:ext cx="8595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2336" y="2313432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313432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59536" y="2322576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V13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2336" y="2514600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セキュリティヘッダー・秘密情報・本番設定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02336" y="2752344"/>
            <a:ext cx="8339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CSP・X-Content-Type-Options 等のヘッダー、秘密情報のハードコード禁止、本番でのデバッグ・詳細エラー無効化。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2336" y="2935224"/>
            <a:ext cx="8339328" cy="237744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2935224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Spring: CSP / X-Frame-Options / X-Content-Type-Options。秘密情報は AWS Secrets Manager または環境変数 —— application.yml に平文で書かない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310128"/>
            <a:ext cx="859536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2336" y="3383280"/>
            <a:ext cx="384048" cy="201168"/>
          </a:xfrm>
          <a:prstGeom prst="roundRect">
            <a:avLst>
              <a:gd name="adj" fmla="val 136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383280"/>
            <a:ext cx="384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59536" y="33924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V1 ／ 3省2GL 経営管理編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02336" y="3584448"/>
            <a:ext cx="83393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障害対応・冪等性・ログ保存期間（BCP）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02336" y="3822192"/>
            <a:ext cx="833932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検査システムは止まると診療が止まる（CIA の可用性）。Multi-AZ 等インフラに加え、アプリ層でも障害に耐える実装が要る。監査ログ・記録は法定保存年限を満たす期間で保持する。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02336" y="4005072"/>
            <a:ext cx="8339328" cy="237744"/>
          </a:xfrm>
          <a:prstGeom prst="roundRect">
            <a:avLst>
              <a:gd name="adj" fmla="val 11538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005072"/>
            <a:ext cx="819302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4D9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 Boot Actuator（ヘルスチェック）。server.shutdown=graceful。冪等キー + 一意制約で重複オーダー防止。Resilience4j でサーキットブレーカー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30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6A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Web基盤 セキュア実装ガイド — 社内勉強会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検査業務特有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212848"/>
            <a:ext cx="8046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7DD3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の枠の外側で、医療ドメインとして上乗せする要件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71600" y="2651760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0C3D5E"/>
          </a:solidFill>
          <a:ln w="12700">
            <a:solidFill>
              <a:srgbClr val="1A6A9A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1508760" y="2651760"/>
            <a:ext cx="6126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検査・細菌・病理の固有要件：一般的な Web セキュリティに加え、検体検査の精度確保（医療法・施行規則）と感染症法が、システムに特有の実装を求める。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3337560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0E4466"/>
          </a:solidFill>
          <a:ln w="12700">
            <a:solidFill>
              <a:srgbClr val="1A7A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精度管理記録の保持・改ざん防止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0" y="3337560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0E4466"/>
          </a:solidFill>
          <a:ln w="12700">
            <a:solidFill>
              <a:srgbClr val="1A7A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3337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トレーサビリティ（試薬ロット・装置・校正）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97280" y="3749040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0E4466"/>
          </a:solidFill>
          <a:ln w="12700">
            <a:solidFill>
              <a:srgbClr val="1A7A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結果の確定・訂正履歴（真正性）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0" y="3749040"/>
            <a:ext cx="3474720" cy="320040"/>
          </a:xfrm>
          <a:prstGeom prst="roundRect">
            <a:avLst>
              <a:gd name="adj" fmla="val 14286"/>
            </a:avLst>
          </a:prstGeom>
          <a:solidFill>
            <a:srgbClr val="0E4466"/>
          </a:solidFill>
          <a:ln w="12700">
            <a:solidFill>
              <a:srgbClr val="1A7AA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3749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パニック値アラート・感染症届出連携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956048"/>
            <a:ext cx="8778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部門システム Web 基盤 セキュア実装ガイド — 社内勉強会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078992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7315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検査業務特有（4項目）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676656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ASVS の枠外で医療ドメインとして上乗せ ／ 検体検査精度確保・感染症法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1243584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24358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検査特有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42416" y="1252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医療法15条の2 ／ 精度確保基準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84048" y="1444752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精度管理記録の保持・改ざん防止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1682496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内部精度管理・外部精度管理調査・標準作業書・作業日誌を改ざん不能で保持（検体検査精度確保）。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確定記録は WORM 保管（S3 Object Lock コンプライアンスモード）。作業日誌はタイムスタンプ強制。SOP はバージョニングで版管理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63440" y="1170432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73168" y="1243584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1243584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検査特有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431536" y="1252728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精度確保基準 ／ トレーサビリティ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773168" y="1444752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トレーサビリティ（試薬ロット・装置・校正）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73168" y="1682496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どの検査結果が、どの装置で、どの試薬ロットで、いつ出されたかを追える。再検査・リコール時の特定に必須。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分析装置との連携 I/F でロット・校正情報を欠落なく取り込む。結果レコードに装置・ロット・実施者・時刻を紐づけて記録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578608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2651760"/>
            <a:ext cx="594360" cy="201168"/>
          </a:xfrm>
          <a:prstGeom prst="roundRect">
            <a:avLst>
              <a:gd name="adj" fmla="val 13636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65176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検査特有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42416" y="26609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電子保存三原則 ／ 真正性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384048" y="2852928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結果の確定・訂正履歴（真正性）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84048" y="3090672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電子保存の三原則（真正性）。確定後の結果を誰が・いつ・なぜ訂正したかを残し、訂正前後を追えるようにする。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結果は上書きでなくバージョン管理（イミュータブルな履歴）。訂正理由を必須入力。確定者と訂正者を別々に記録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663440" y="2578608"/>
            <a:ext cx="4206240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73168" y="2651760"/>
            <a:ext cx="822960" cy="201168"/>
          </a:xfrm>
          <a:prstGeom prst="roundRect">
            <a:avLst>
              <a:gd name="adj" fmla="val 13636"/>
            </a:avLst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73168" y="265176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細菌・微生物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660136" y="2660904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感染症法12条 ／ 安全管理措置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4773168" y="2852928"/>
            <a:ext cx="39867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パニック値アラート・感染症届出連携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3090672"/>
            <a:ext cx="398678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救急パニック値の即時通知（可用性が機密性に優先する場面）。感染症法届出対象の検出時、正確なデータ生成と安全な連携。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パニック値はフェイルセーフ通知。届出連携は暗号化限定経路（API Gateway + TLS ／ PrivateLink）と連携証跡。最終判断は医師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34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E4D92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4956048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LIS Web基盤 セキュア実装ガイド — 社内勉強会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42840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731520"/>
            <a:ext cx="475488" cy="731520"/>
          </a:xfrm>
          <a:prstGeom prst="roundRect">
            <a:avLst>
              <a:gd name="adj" fmla="val 11538"/>
            </a:avLst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731520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50976" y="8046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安心ラインは ASVS L2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50976" y="1060704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L1+L2 全項目 + 3省2GL のアプリ要件 + 検査業務特有を実装した状態 ＝ 客観的に「ここまでやった」と説明できる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536192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42840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1536192"/>
            <a:ext cx="475488" cy="731520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536192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50976" y="160934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AWS の上にアプリ実装がある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50976" y="1865376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KMS・WAF・CloudTrail は土台。アプリが使わなければ守られない。患者アクセス証跡はアプリが生成する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340864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428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40864"/>
            <a:ext cx="475488" cy="731520"/>
          </a:xfrm>
          <a:prstGeom prst="roundRect">
            <a:avLst>
              <a:gd name="adj" fmla="val 11538"/>
            </a:avLst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340864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50976" y="241401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認証・認可は 2 段構え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50976" y="2670048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二要素認証（MFA） + サーバ側全リクエスト認可 + データ単位 IDOR 対策。クライアント制御だけでは不十分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145536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4284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145536"/>
            <a:ext cx="475488" cy="731520"/>
          </a:xfrm>
          <a:prstGeom prst="roundRect">
            <a:avLst>
              <a:gd name="adj" fmla="val 11538"/>
            </a:avLst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145536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" y="321868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ログは WORM 保管・マスクして出す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0976" y="347472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患者アクセス証跡はアプリが生成し S3 Object Lock（WORM）で保管。ログへの PII 出力はマスク必須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950208"/>
            <a:ext cx="8412480" cy="731520"/>
          </a:xfrm>
          <a:prstGeom prst="roundRect">
            <a:avLst>
              <a:gd name="adj" fmla="val 10000"/>
            </a:avLst>
          </a:prstGeom>
          <a:solidFill>
            <a:srgbClr val="142840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950208"/>
            <a:ext cx="475488" cy="731520"/>
          </a:xfrm>
          <a:prstGeom prst="roundRect">
            <a:avLst>
              <a:gd name="adj" fmla="val 11538"/>
            </a:avLst>
          </a:prstGeom>
          <a:solidFill>
            <a:srgbClr val="0369A1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950208"/>
            <a:ext cx="47548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50976" y="402336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検査業務特有は ASVS の枠外で上乗せ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50976" y="4279392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8D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精度管理・トレーサビリティ・真正性は医療ドメイン固有。ASVS を満たすだけでは足りない検査業務固有の実装がある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00400" y="4754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&amp; 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2026-05-24T13:56:41Z</dcterms:created>
  <dcterms:modified xsi:type="dcterms:W3CDTF">2026-05-24T13:56:41Z</dcterms:modified>
</cp:coreProperties>
</file>